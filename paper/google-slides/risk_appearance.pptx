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k_appearance_slid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t>危険度 R ごとの色相・不透明度（数値）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見た目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色相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彩度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明度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不透明度 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RGB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青緑・うすい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#4C7F7F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緑・ややうすい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#419256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黄緑・中くらい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#6BA531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橙黄・やや濃い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#B8911B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赤・はっきり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#CC0000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4206240"/>
            <a:ext cx="2011680" cy="914400"/>
          </a:xfrm>
          <a:prstGeom prst="rect">
            <a:avLst/>
          </a:prstGeom>
          <a:solidFill>
            <a:srgbClr val="4C7F7F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R=0</a:t>
            </a:r>
          </a:p>
          <a:p>
            <a:pPr algn="ctr">
              <a:defRPr sz="1200"/>
            </a:pPr>
            <a:r>
              <a:t>α=0.350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206240"/>
            <a:ext cx="2011680" cy="914400"/>
          </a:xfrm>
          <a:prstGeom prst="rect">
            <a:avLst/>
          </a:prstGeom>
          <a:solidFill>
            <a:srgbClr val="419256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5212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R=0.25</a:t>
            </a:r>
          </a:p>
          <a:p>
            <a:pPr algn="ctr">
              <a:defRPr sz="1200"/>
            </a:pPr>
            <a:r>
              <a:t>α=0.512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4206240"/>
            <a:ext cx="2011680" cy="914400"/>
          </a:xfrm>
          <a:prstGeom prst="rect">
            <a:avLst/>
          </a:prstGeom>
          <a:solidFill>
            <a:srgbClr val="6BA531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5212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R=0.5</a:t>
            </a:r>
          </a:p>
          <a:p>
            <a:pPr algn="ctr">
              <a:defRPr sz="1200"/>
            </a:pPr>
            <a:r>
              <a:t>α=0.675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4206240"/>
            <a:ext cx="2011680" cy="914400"/>
          </a:xfrm>
          <a:prstGeom prst="rect">
            <a:avLst/>
          </a:prstGeom>
          <a:solidFill>
            <a:srgbClr val="B8911B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5212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R=0.75</a:t>
            </a:r>
          </a:p>
          <a:p>
            <a:pPr algn="ctr">
              <a:defRPr sz="1200"/>
            </a:pPr>
            <a:r>
              <a:t>α=0.838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4206240"/>
            <a:ext cx="2011680" cy="914400"/>
          </a:xfrm>
          <a:prstGeom prst="rect">
            <a:avLst/>
          </a:prstGeom>
          <a:solidFill>
            <a:srgbClr val="CC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52120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R=1</a:t>
            </a:r>
          </a:p>
          <a:p>
            <a:pPr algn="ctr">
              <a:defRPr sz="1200"/>
            </a:pPr>
            <a:r>
              <a:t>α=1.000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 = 0　（青緑・うすい）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solidFill>
            <a:srgbClr val="4C7F7F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色相 H = 180°</a:t>
            </a:r>
          </a:p>
          <a:p>
            <a:pPr>
              <a:defRPr sz="2000"/>
            </a:pPr>
            <a:r>
              <a:t>彩度 S = 0.40</a:t>
            </a:r>
          </a:p>
          <a:p>
            <a:pPr>
              <a:defRPr sz="2000"/>
            </a:pPr>
            <a:r>
              <a:t>明度 V = 0.50</a:t>
            </a:r>
          </a:p>
          <a:p>
            <a:pPr>
              <a:defRPr sz="2000"/>
            </a:pPr>
            <a:r>
              <a:t>不透明度 α = 0.350  （α = 0.35 + 0.65R）</a:t>
            </a:r>
          </a:p>
          <a:p>
            <a:pPr>
              <a:defRPr sz="2000"/>
            </a:pPr>
            <a:r>
              <a:t>RGB = (76, 127, 127)  #4C7F7F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 = 0.25　（緑・ややうすい）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solidFill>
            <a:srgbClr val="419256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色相 H = 135°</a:t>
            </a:r>
          </a:p>
          <a:p>
            <a:pPr>
              <a:defRPr sz="2000"/>
            </a:pPr>
            <a:r>
              <a:t>彩度 S = 0.55</a:t>
            </a:r>
          </a:p>
          <a:p>
            <a:pPr>
              <a:defRPr sz="2000"/>
            </a:pPr>
            <a:r>
              <a:t>明度 V = 0.57</a:t>
            </a:r>
          </a:p>
          <a:p>
            <a:pPr>
              <a:defRPr sz="2000"/>
            </a:pPr>
            <a:r>
              <a:t>不透明度 α = 0.512  （α = 0.35 + 0.65R）</a:t>
            </a:r>
          </a:p>
          <a:p>
            <a:pPr>
              <a:defRPr sz="2000"/>
            </a:pPr>
            <a:r>
              <a:t>RGB = (65, 146, 86)  #419256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 = 0.5　（黄緑・中くらい）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solidFill>
            <a:srgbClr val="6BA531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色相 H = 90°</a:t>
            </a:r>
          </a:p>
          <a:p>
            <a:pPr>
              <a:defRPr sz="2000"/>
            </a:pPr>
            <a:r>
              <a:t>彩度 S = 0.70</a:t>
            </a:r>
          </a:p>
          <a:p>
            <a:pPr>
              <a:defRPr sz="2000"/>
            </a:pPr>
            <a:r>
              <a:t>明度 V = 0.65</a:t>
            </a:r>
          </a:p>
          <a:p>
            <a:pPr>
              <a:defRPr sz="2000"/>
            </a:pPr>
            <a:r>
              <a:t>不透明度 α = 0.675  （α = 0.35 + 0.65R）</a:t>
            </a:r>
          </a:p>
          <a:p>
            <a:pPr>
              <a:defRPr sz="2000"/>
            </a:pPr>
            <a:r>
              <a:t>RGB = (107, 165, 49)  #6BA531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 = 0.75　（橙黄・やや濃い）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solidFill>
            <a:srgbClr val="B8911B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色相 H = 45°</a:t>
            </a:r>
          </a:p>
          <a:p>
            <a:pPr>
              <a:defRPr sz="2000"/>
            </a:pPr>
            <a:r>
              <a:t>彩度 S = 0.85</a:t>
            </a:r>
          </a:p>
          <a:p>
            <a:pPr>
              <a:defRPr sz="2000"/>
            </a:pPr>
            <a:r>
              <a:t>明度 V = 0.72</a:t>
            </a:r>
          </a:p>
          <a:p>
            <a:pPr>
              <a:defRPr sz="2000"/>
            </a:pPr>
            <a:r>
              <a:t>不透明度 α = 0.838  （α = 0.35 + 0.65R）</a:t>
            </a:r>
          </a:p>
          <a:p>
            <a:pPr>
              <a:defRPr sz="2000"/>
            </a:pPr>
            <a:r>
              <a:t>RGB = (184, 145, 27)  #B8911B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 = 1　（赤・はっきり）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144000" cy="2286000"/>
          </a:xfrm>
          <a:prstGeom prst="rect">
            <a:avLst/>
          </a:prstGeom>
          <a:solidFill>
            <a:srgbClr val="CC00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色相 H = 0°</a:t>
            </a:r>
          </a:p>
          <a:p>
            <a:pPr>
              <a:defRPr sz="2000"/>
            </a:pPr>
            <a:r>
              <a:t>彩度 S = 1.00</a:t>
            </a:r>
          </a:p>
          <a:p>
            <a:pPr>
              <a:defRPr sz="2000"/>
            </a:pPr>
            <a:r>
              <a:t>明度 V = 0.80</a:t>
            </a:r>
          </a:p>
          <a:p>
            <a:pPr>
              <a:defRPr sz="2000"/>
            </a:pPr>
            <a:r>
              <a:t>不透明度 α = 1.000  （α = 0.35 + 0.65R）</a:t>
            </a:r>
          </a:p>
          <a:p>
            <a:pPr>
              <a:defRPr sz="2000"/>
            </a:pPr>
            <a:r>
              <a:t>RGB = (204, 0, 0)  #CC0000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